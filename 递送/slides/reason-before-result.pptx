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29cf626ca14c5d" /><Relationship Type="http://schemas.openxmlformats.org/officeDocument/2006/relationships/extended-properties" Target="/docProps/app.xml" Id="R631943afffe049f8" /><Relationship Type="http://schemas.openxmlformats.org/officeDocument/2006/relationships/officeDocument" Target="/ppt/presentation.xml" Id="R967ef451ed7846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55d1f38f614e3e"/>
  </p:sldMasterIdLst>
  <p:notesMasterIdLst>
    <p:notesMasterId xmlns:r="http://schemas.openxmlformats.org/officeDocument/2006/relationships" r:id="R8c1f53700f4b4df6"/>
  </p:notesMasterIdLst>
  <p:sldIdLst>
    <p:sldId xmlns:r="http://schemas.openxmlformats.org/officeDocument/2006/relationships" id="256" r:id="Rdb468702966d4d1b"/>
    <p:sldId xmlns:r="http://schemas.openxmlformats.org/officeDocument/2006/relationships" id="257" r:id="R2cd16ebb992b4f88"/>
    <p:sldId xmlns:r="http://schemas.openxmlformats.org/officeDocument/2006/relationships" id="258" r:id="R5f57a44aa1204913"/>
    <p:sldId xmlns:r="http://schemas.openxmlformats.org/officeDocument/2006/relationships" id="259" r:id="R6dd483a5a29a433a"/>
    <p:sldId xmlns:r="http://schemas.openxmlformats.org/officeDocument/2006/relationships" id="260" r:id="Re6c95c7b1f7e47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f8a26d09914deb" /><Relationship Type="http://schemas.openxmlformats.org/officeDocument/2006/relationships/slideMaster" Target="/ppt/slideMasters/slideMaster1.xml" Id="R3f55d1f38f614e3e" /><Relationship Type="http://schemas.openxmlformats.org/officeDocument/2006/relationships/notesMaster" Target="/ppt/notesMasters/notesMaster1.xml" Id="R8c1f53700f4b4df6" /><Relationship Type="http://schemas.openxmlformats.org/officeDocument/2006/relationships/presProps" Target="/ppt/presProps.xml" Id="R5dfaf3c43c8f4a3e" /><Relationship Type="http://schemas.openxmlformats.org/officeDocument/2006/relationships/tableStyles" Target="/ppt/tableStyles.xml" Id="Rdc2d543d2eb14d3b" /><Relationship Type="http://schemas.openxmlformats.org/officeDocument/2006/relationships/slide" Target="/ppt/slides/slide1.xml" Id="Rdb468702966d4d1b" /><Relationship Type="http://schemas.openxmlformats.org/officeDocument/2006/relationships/slide" Target="/ppt/slides/slide2.xml" Id="R2cd16ebb992b4f88" /><Relationship Type="http://schemas.openxmlformats.org/officeDocument/2006/relationships/slide" Target="/ppt/slides/slide3.xml" Id="R5f57a44aa1204913" /><Relationship Type="http://schemas.openxmlformats.org/officeDocument/2006/relationships/slide" Target="/ppt/slides/slide4.xml" Id="R6dd483a5a29a433a" /><Relationship Type="http://schemas.openxmlformats.org/officeDocument/2006/relationships/slide" Target="/ppt/slides/slide5.xml" Id="Re6c95c7b1f7e47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cea69538934d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a5c624b18c4a2e" /><Relationship Type="http://schemas.openxmlformats.org/officeDocument/2006/relationships/notesMaster" Target="/ppt/notesMasters/notesMaster1.xml" Id="Ra7b71d3459fa42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6b76790bde4e06" /><Relationship Type="http://schemas.openxmlformats.org/officeDocument/2006/relationships/notesMaster" Target="/ppt/notesMasters/notesMaster1.xml" Id="R9a1138c9987c4e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95730222e24682" /><Relationship Type="http://schemas.openxmlformats.org/officeDocument/2006/relationships/notesMaster" Target="/ppt/notesMasters/notesMaster1.xml" Id="Rc9b7230600a244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9ab32a38eb444c" /><Relationship Type="http://schemas.openxmlformats.org/officeDocument/2006/relationships/notesMaster" Target="/ppt/notesMasters/notesMaster1.xml" Id="R823e465833174f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fef569966e48b9" /><Relationship Type="http://schemas.openxmlformats.org/officeDocument/2006/relationships/notesMaster" Target="/ppt/notesMasters/notesMaster1.xml" Id="R90b8ce548cc644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/home/xin/AI项目/种子园/黑客松-alpaca/黑客松-alpaca.seed.md</a:t>
            </a:r>
          </a:p>
          <a:p xmlns:a="http://schemas.openxmlformats.org/drawingml/2006/main">
            <a:r>
              <a:t>- /home/xin/AI项目/种子园/黑客松-alpaca/README.md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/home/xin/AI项目/种子园/黑客松-alpaca/跑.py</a:t>
            </a:r>
          </a:p>
          <a:p xmlns:a="http://schemas.openxmlformats.org/drawingml/2006/main">
            <a:r>
              <a:t>- /home/xin/AI项目/种子园/黑客松-alpaca/手.py</a:t>
            </a:r>
          </a:p>
          <a:p xmlns:a="http://schemas.openxmlformats.org/drawingml/2006/main">
            <a:r>
              <a:t>- /home/xin/AI项目/种子园/黑客松-alpaca/账.py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/home/xin/AI项目/种子园/黑客松-alpaca/闸.py</a:t>
            </a:r>
          </a:p>
          <a:p xmlns:a="http://schemas.openxmlformats.org/drawingml/2006/main">
            <a:r>
              <a:t>- /home/xin/AI项目/种子园/黑客松-alpaca/闸自检.py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/home/xin/AI项目/种子园/黑客松-alpaca/手.py</a:t>
            </a:r>
          </a:p>
          <a:p xmlns:a="http://schemas.openxmlformats.org/drawingml/2006/main">
            <a:r>
              <a:t>- https://docs.alpaca.markets/docs/alpaca-mcp-server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/home/xin/AI项目/种子园/黑客松-alpaca/README.md</a:t>
            </a:r>
          </a:p>
          <a:p xmlns:a="http://schemas.openxmlformats.org/drawingml/2006/main">
            <a:r>
              <a:t>- /home/xin/AI项目/种子园/黑客松-alpaca/黑客松-alpaca.seed.md</a:t>
            </a:r>
          </a:p>
          <a:p xmlns:a="http://schemas.openxmlformats.org/drawingml/2006/main">
            <a:r>
              <a:t>- https://lablab.ai/ai-hackathons/alpaca-ai-trading-agents-hackathon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648da8f13741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f1c3ea1e6d4039" /><Relationship Type="http://schemas.openxmlformats.org/officeDocument/2006/relationships/slideLayout" Target="/ppt/slideLayouts/slideLayout1.xml" Id="R141ac7ef984e4c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1ac7ef984e4c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0f56fb65941e9" /><Relationship Type="http://schemas.openxmlformats.org/officeDocument/2006/relationships/notesSlide" Target="/ppt/notesSlides/notesSlide1.xml" Id="Rb31ab9ecfa824d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97679e7ff4bb5" /><Relationship Type="http://schemas.openxmlformats.org/officeDocument/2006/relationships/notesSlide" Target="/ppt/notesSlides/notesSlide2.xml" Id="R67aaeab72c5d41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0fa206405430f" /><Relationship Type="http://schemas.openxmlformats.org/officeDocument/2006/relationships/notesSlide" Target="/ppt/notesSlides/notesSlide3.xml" Id="Red7168b05b9f4f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269effff548b8" /><Relationship Type="http://schemas.openxmlformats.org/officeDocument/2006/relationships/notesSlide" Target="/ppt/notesSlides/notesSlide4.xml" Id="R404a6403d35144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8bd20359f4900" /><Relationship Type="http://schemas.openxmlformats.org/officeDocument/2006/relationships/notesSlide" Target="/ppt/notesSlides/notesSlide5.xml" Id="Rf4a4b687d1264d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2FBD8D65-3D91-4ECB-B269-B8B5904A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D636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D636D"/>
                </a:solidFill>
                <a:latin typeface="Arial"/>
                <a:ea typeface="Arial"/>
                <a:cs typeface="Arial"/>
              </a:rPr>
              <a:t>ALPACA PAPER OPTIONS · MCP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07925B0-CCE8-4D4E-97BB-4B56A7CC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9334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Reason Before</a:t>
            </a:r>
          </a:p>
          <a:p xmlns:a="http://schemas.openxmlformats.org/drawingml/2006/main">
            <a:pPr algn="l">
              <a:defRPr sz="6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CCA83B82-FEC4-4263-8EAA-FA6B9B39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D191BE6-3867-47CF-BF6B-E4423575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742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explanation is written before the order can exist.</a:t>
            </a:r>
          </a:p>
        </p:txBody>
      </p:sp>
      <p:sp>
        <p:nvSpPr>
          <p:cNvPr id="5" name="cover-boundary">
            <a:extLst xmlns:a="http://schemas.openxmlformats.org/drawingml/2006/main">
              <a:ext uri="{FF2B5EF4-FFF2-40B4-BE49-F238E27FC236}">
                <a16:creationId xmlns:a16="http://schemas.microsoft.com/office/drawing/2014/main" id="{FC390685-881F-4D41-B92C-D59DC7EB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36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D636D"/>
                </a:solidFill>
                <a:latin typeface="Arial"/>
                <a:ea typeface="Arial"/>
                <a:cs typeface="Arial"/>
              </a:rPr>
              <a:t>PAPER ONLY · OPTIONS · LOSS IS BOUNDED BEFORE EXECUTION</a:t>
            </a:r>
          </a:p>
        </p:txBody>
      </p:sp>
    </p:spTree>
    <p:extLst>
      <p:ext uri="{BB962C8B-B14F-4D97-AF65-F5344CB8AC3E}">
        <p14:creationId xmlns:p14="http://schemas.microsoft.com/office/powerpoint/2010/main" val="20212272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itle-2">
            <a:extLst xmlns:a="http://schemas.openxmlformats.org/drawingml/2006/main">
              <a:ext uri="{FF2B5EF4-FFF2-40B4-BE49-F238E27FC236}">
                <a16:creationId xmlns:a16="http://schemas.microsoft.com/office/drawing/2014/main" id="{C9212EB7-6BE1-4C1D-9982-520BC59B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explanation is part of the execution path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F512EF87-5440-4BB2-A1F7-9ADC2286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3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36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flow-line-0">
            <a:extLst xmlns:a="http://schemas.openxmlformats.org/drawingml/2006/main">
              <a:ext uri="{FF2B5EF4-FFF2-40B4-BE49-F238E27FC236}">
                <a16:creationId xmlns:a16="http://schemas.microsoft.com/office/drawing/2014/main" id="{5B92DE11-3DEF-4D96-9BA8-1ACF9C54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05125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A7340146-C6C2-42D1-96D1-90E6B6CA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098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20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5D636D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D636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" name="flow-line-1">
            <a:extLst xmlns:a="http://schemas.openxmlformats.org/drawingml/2006/main">
              <a:ext uri="{FF2B5EF4-FFF2-40B4-BE49-F238E27FC236}">
                <a16:creationId xmlns:a16="http://schemas.microsoft.com/office/drawing/2014/main" id="{354C1696-9600-45DC-A6FC-D6A72D35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05125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BD1B56DD-5EB4-4CC4-9B5F-C37D9B0A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098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20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5D636D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D636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flow-line-2">
            <a:extLst xmlns:a="http://schemas.openxmlformats.org/drawingml/2006/main">
              <a:ext uri="{FF2B5EF4-FFF2-40B4-BE49-F238E27FC236}">
                <a16:creationId xmlns:a16="http://schemas.microsoft.com/office/drawing/2014/main" id="{666D19D0-5086-4678-96B0-CBE8E139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05125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03E1FE2A-B6B2-46C9-BA46-22CB496F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098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20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5D636D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D636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flow-line-3">
            <a:extLst xmlns:a="http://schemas.openxmlformats.org/drawingml/2006/main">
              <a:ext uri="{FF2B5EF4-FFF2-40B4-BE49-F238E27FC236}">
                <a16:creationId xmlns:a16="http://schemas.microsoft.com/office/drawing/2014/main" id="{19749E73-0266-4932-A9DF-88FF80EC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92B61D5E-88ED-43AC-9E42-15C7D6D1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098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20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5D636D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D636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flow-box-0">
            <a:extLst xmlns:a="http://schemas.openxmlformats.org/drawingml/2006/main">
              <a:ext uri="{FF2B5EF4-FFF2-40B4-BE49-F238E27FC236}">
                <a16:creationId xmlns:a16="http://schemas.microsoft.com/office/drawing/2014/main" id="{0E57AAB0-3C14-424C-87F2-1A5DCD3C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18859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flow-num-0">
            <a:extLst xmlns:a="http://schemas.openxmlformats.org/drawingml/2006/main">
              <a:ext uri="{FF2B5EF4-FFF2-40B4-BE49-F238E27FC236}">
                <a16:creationId xmlns:a16="http://schemas.microsoft.com/office/drawing/2014/main" id="{F0323A0A-736E-4A94-AA8A-AF011A79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574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D63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36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flow-label-0">
            <a:extLst xmlns:a="http://schemas.openxmlformats.org/drawingml/2006/main">
              <a:ext uri="{FF2B5EF4-FFF2-40B4-BE49-F238E27FC236}">
                <a16:creationId xmlns:a16="http://schemas.microsoft.com/office/drawing/2014/main" id="{0113B998-FBAE-4F4F-86B4-C4BCA0B4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2890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</a:t>
            </a:r>
          </a:p>
        </p:txBody>
      </p:sp>
      <p:sp>
        <p:nvSpPr>
          <p:cNvPr id="14" name="flow-body-0">
            <a:extLst xmlns:a="http://schemas.openxmlformats.org/drawingml/2006/main">
              <a:ext uri="{FF2B5EF4-FFF2-40B4-BE49-F238E27FC236}">
                <a16:creationId xmlns:a16="http://schemas.microsoft.com/office/drawing/2014/main" id="{C72E0902-B827-45EF-96C1-BA7074BE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86125"/>
            <a:ext cx="1543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3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36D"/>
                </a:solidFill>
                <a:latin typeface="Arial"/>
                <a:ea typeface="Arial"/>
                <a:cs typeface="Arial"/>
              </a:rPr>
              <a:t>Clock · account</a:t>
            </a:r>
          </a:p>
          <a:p xmlns:a="http://schemas.openxmlformats.org/drawingml/2006/main">
            <a:pPr algn="l">
              <a:defRPr sz="1500" b="0">
                <a:solidFill>
                  <a:srgbClr val="5D63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36D"/>
                </a:solidFill>
                <a:latin typeface="Arial"/>
                <a:ea typeface="Arial"/>
                <a:cs typeface="Arial"/>
              </a:rPr>
              <a:t>price · option chain</a:t>
            </a:r>
          </a:p>
        </p:txBody>
      </p:sp>
      <p:sp>
        <p:nvSpPr>
          <p:cNvPr id="15" name="flow-box-1">
            <a:extLst xmlns:a="http://schemas.openxmlformats.org/drawingml/2006/main">
              <a:ext uri="{FF2B5EF4-FFF2-40B4-BE49-F238E27FC236}">
                <a16:creationId xmlns:a16="http://schemas.microsoft.com/office/drawing/2014/main" id="{D99479A4-B324-476A-876E-707DB5B3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885950"/>
            <a:ext cx="18859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flow-num-1">
            <a:extLst xmlns:a="http://schemas.openxmlformats.org/drawingml/2006/main">
              <a:ext uri="{FF2B5EF4-FFF2-40B4-BE49-F238E27FC236}">
                <a16:creationId xmlns:a16="http://schemas.microsoft.com/office/drawing/2014/main" id="{6A5C5C33-DA39-4C12-93CA-3AE2DB22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574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D63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3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2F21D819-99C1-462C-A62B-8E89847B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2890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WRITE</a:t>
            </a:r>
          </a:p>
        </p:txBody>
      </p:sp>
      <p:sp>
        <p:nvSpPr>
          <p:cNvPr id="18" name="flow-body-1">
            <a:extLst xmlns:a="http://schemas.openxmlformats.org/drawingml/2006/main">
              <a:ext uri="{FF2B5EF4-FFF2-40B4-BE49-F238E27FC236}">
                <a16:creationId xmlns:a16="http://schemas.microsoft.com/office/drawing/2014/main" id="{CC3A82AB-59AF-404E-81C7-CE951105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86125"/>
            <a:ext cx="1543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3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36D"/>
                </a:solidFill>
                <a:latin typeface="Arial"/>
                <a:ea typeface="Arial"/>
                <a:cs typeface="Arial"/>
              </a:rPr>
              <a:t>Legs · max loss</a:t>
            </a:r>
          </a:p>
          <a:p xmlns:a="http://schemas.openxmlformats.org/drawingml/2006/main">
            <a:pPr algn="l">
              <a:defRPr sz="1500" b="0">
                <a:solidFill>
                  <a:srgbClr val="5D63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36D"/>
                </a:solidFill>
                <a:latin typeface="Arial"/>
                <a:ea typeface="Arial"/>
                <a:cs typeface="Arial"/>
              </a:rPr>
              <a:t>invalidation · exit</a:t>
            </a:r>
          </a:p>
        </p:txBody>
      </p:sp>
      <p:sp>
        <p:nvSpPr>
          <p:cNvPr id="19" name="flow-box-2">
            <a:extLst xmlns:a="http://schemas.openxmlformats.org/drawingml/2006/main">
              <a:ext uri="{FF2B5EF4-FFF2-40B4-BE49-F238E27FC236}">
                <a16:creationId xmlns:a16="http://schemas.microsoft.com/office/drawing/2014/main" id="{9D4D6A8E-1ACE-4C41-A49C-DA94BB34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85950"/>
            <a:ext cx="18859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flow-num-2">
            <a:extLst xmlns:a="http://schemas.openxmlformats.org/drawingml/2006/main">
              <a:ext uri="{FF2B5EF4-FFF2-40B4-BE49-F238E27FC236}">
                <a16:creationId xmlns:a16="http://schemas.microsoft.com/office/drawing/2014/main" id="{E7E75FD0-B0D6-418D-B5F2-EFBED1C4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574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D63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3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1CB8C0E3-9F52-4B62-89FE-A9A1BF90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2890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22" name="flow-body-2">
            <a:extLst xmlns:a="http://schemas.openxmlformats.org/drawingml/2006/main">
              <a:ext uri="{FF2B5EF4-FFF2-40B4-BE49-F238E27FC236}">
                <a16:creationId xmlns:a16="http://schemas.microsoft.com/office/drawing/2014/main" id="{BB5EDC26-84C4-4404-9C39-99D61FC8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86125"/>
            <a:ext cx="1543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3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36D"/>
                </a:solidFill>
                <a:latin typeface="Arial"/>
                <a:ea typeface="Arial"/>
                <a:cs typeface="Arial"/>
              </a:rPr>
              <a:t>Seven receipts</a:t>
            </a:r>
          </a:p>
          <a:p xmlns:a="http://schemas.openxmlformats.org/drawingml/2006/main">
            <a:pPr algn="l">
              <a:defRPr sz="1500" b="0">
                <a:solidFill>
                  <a:srgbClr val="5D63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36D"/>
                </a:solidFill>
                <a:latin typeface="Arial"/>
                <a:ea typeface="Arial"/>
                <a:cs typeface="Arial"/>
              </a:rPr>
              <a:t>unknown means STOP</a:t>
            </a:r>
          </a:p>
        </p:txBody>
      </p:sp>
      <p:sp>
        <p:nvSpPr>
          <p:cNvPr id="23" name="flow-box-3">
            <a:extLst xmlns:a="http://schemas.openxmlformats.org/drawingml/2006/main">
              <a:ext uri="{FF2B5EF4-FFF2-40B4-BE49-F238E27FC236}">
                <a16:creationId xmlns:a16="http://schemas.microsoft.com/office/drawing/2014/main" id="{A3C84E29-1436-455D-A231-132BEFE2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85950"/>
            <a:ext cx="18859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flow-num-3">
            <a:extLst xmlns:a="http://schemas.openxmlformats.org/drawingml/2006/main">
              <a:ext uri="{FF2B5EF4-FFF2-40B4-BE49-F238E27FC236}">
                <a16:creationId xmlns:a16="http://schemas.microsoft.com/office/drawing/2014/main" id="{3899C0F1-1E75-4DF0-86D8-3F36BDF1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574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D63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3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E2579A82-5FE5-4F27-A423-905ED333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2890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EXECUTE</a:t>
            </a:r>
          </a:p>
        </p:txBody>
      </p:sp>
      <p:sp>
        <p:nvSpPr>
          <p:cNvPr id="26" name="flow-body-3">
            <a:extLst xmlns:a="http://schemas.openxmlformats.org/drawingml/2006/main">
              <a:ext uri="{FF2B5EF4-FFF2-40B4-BE49-F238E27FC236}">
                <a16:creationId xmlns:a16="http://schemas.microsoft.com/office/drawing/2014/main" id="{3153979E-662D-4F10-B666-41F8BF6D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86125"/>
            <a:ext cx="1543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3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36D"/>
                </a:solidFill>
                <a:latin typeface="Arial"/>
                <a:ea typeface="Arial"/>
                <a:cs typeface="Arial"/>
              </a:rPr>
              <a:t>MCP tool</a:t>
            </a:r>
          </a:p>
          <a:p xmlns:a="http://schemas.openxmlformats.org/drawingml/2006/main">
            <a:pPr algn="l">
              <a:defRPr sz="1500" b="0">
                <a:solidFill>
                  <a:srgbClr val="5D63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36D"/>
                </a:solidFill>
                <a:latin typeface="Arial"/>
                <a:ea typeface="Arial"/>
                <a:cs typeface="Arial"/>
              </a:rPr>
              <a:t>place option order</a:t>
            </a:r>
          </a:p>
        </p:txBody>
      </p:sp>
      <p:sp>
        <p:nvSpPr>
          <p:cNvPr id="27" name="flow-box-4">
            <a:extLst xmlns:a="http://schemas.openxmlformats.org/drawingml/2006/main">
              <a:ext uri="{FF2B5EF4-FFF2-40B4-BE49-F238E27FC236}">
                <a16:creationId xmlns:a16="http://schemas.microsoft.com/office/drawing/2014/main" id="{5DA6F372-9ACB-4C02-A86A-73E8B5F3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885950"/>
            <a:ext cx="18859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flow-num-4">
            <a:extLst xmlns:a="http://schemas.openxmlformats.org/drawingml/2006/main">
              <a:ext uri="{FF2B5EF4-FFF2-40B4-BE49-F238E27FC236}">
                <a16:creationId xmlns:a16="http://schemas.microsoft.com/office/drawing/2014/main" id="{9DE33CFE-9346-4F01-BA15-FAFF0BEF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574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D63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3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9" name="flow-label-4">
            <a:extLst xmlns:a="http://schemas.openxmlformats.org/drawingml/2006/main">
              <a:ext uri="{FF2B5EF4-FFF2-40B4-BE49-F238E27FC236}">
                <a16:creationId xmlns:a16="http://schemas.microsoft.com/office/drawing/2014/main" id="{347C0D98-3122-49BF-AA31-A59D6FBF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2890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APPEND</a:t>
            </a:r>
          </a:p>
        </p:txBody>
      </p:sp>
      <p:sp>
        <p:nvSpPr>
          <p:cNvPr id="30" name="flow-body-4">
            <a:extLst xmlns:a="http://schemas.openxmlformats.org/drawingml/2006/main">
              <a:ext uri="{FF2B5EF4-FFF2-40B4-BE49-F238E27FC236}">
                <a16:creationId xmlns:a16="http://schemas.microsoft.com/office/drawing/2014/main" id="{1377907E-290B-4AB4-B31E-35D0A80D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86125"/>
            <a:ext cx="1543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3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36D"/>
                </a:solidFill>
                <a:latin typeface="Arial"/>
                <a:ea typeface="Arial"/>
                <a:cs typeface="Arial"/>
              </a:rPr>
              <a:t>Alpaca receipt</a:t>
            </a:r>
          </a:p>
          <a:p xmlns:a="http://schemas.openxmlformats.org/drawingml/2006/main">
            <a:pPr algn="l">
              <a:defRPr sz="1500" b="0">
                <a:solidFill>
                  <a:srgbClr val="5D63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36D"/>
                </a:solidFill>
                <a:latin typeface="Arial"/>
                <a:ea typeface="Arial"/>
                <a:cs typeface="Arial"/>
              </a:rPr>
              <a:t>and recap</a:t>
            </a:r>
          </a:p>
        </p:txBody>
      </p:sp>
      <p:sp>
        <p:nvSpPr>
          <p:cNvPr id="31" name="flow-claim">
            <a:extLst xmlns:a="http://schemas.openxmlformats.org/drawingml/2006/main">
              <a:ext uri="{FF2B5EF4-FFF2-40B4-BE49-F238E27FC236}">
                <a16:creationId xmlns:a16="http://schemas.microsoft.com/office/drawing/2014/main" id="{B46BD66A-D860-4BCF-98AA-B66A3B53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receipt can prove code ran. The prior judgment proves why it ran.</a:t>
            </a:r>
          </a:p>
        </p:txBody>
      </p:sp>
    </p:spTree>
    <p:extLst>
      <p:ext uri="{BB962C8B-B14F-4D97-AF65-F5344CB8AC3E}">
        <p14:creationId xmlns:p14="http://schemas.microsoft.com/office/powerpoint/2010/main" val="16973707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3">
            <a:extLst xmlns:a="http://schemas.openxmlformats.org/drawingml/2006/main">
              <a:ext uri="{FF2B5EF4-FFF2-40B4-BE49-F238E27FC236}">
                <a16:creationId xmlns:a16="http://schemas.microsoft.com/office/drawing/2014/main" id="{3A2E7790-85FA-47CC-9DB7-F8698C2A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Unknown never becomes approval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2E199E80-ABCF-4DE1-AA42-CC2C09DE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3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36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release-field">
            <a:extLst xmlns:a="http://schemas.openxmlformats.org/drawingml/2006/main">
              <a:ext uri="{FF2B5EF4-FFF2-40B4-BE49-F238E27FC236}">
                <a16:creationId xmlns:a16="http://schemas.microsoft.com/office/drawing/2014/main" id="{678F144D-D609-40E8-BF9A-B4157EC3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52959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held-field">
            <a:extLst xmlns:a="http://schemas.openxmlformats.org/drawingml/2006/main">
              <a:ext uri="{FF2B5EF4-FFF2-40B4-BE49-F238E27FC236}">
                <a16:creationId xmlns:a16="http://schemas.microsoft.com/office/drawing/2014/main" id="{66919FFE-94FC-4CFD-A91B-E66D03F2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56959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" name="release-title">
            <a:extLst xmlns:a="http://schemas.openxmlformats.org/drawingml/2006/main">
              <a:ext uri="{FF2B5EF4-FFF2-40B4-BE49-F238E27FC236}">
                <a16:creationId xmlns:a16="http://schemas.microsoft.com/office/drawing/2014/main" id="{2738E742-5233-449F-BE47-A2B82941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RELEASED</a:t>
            </a:r>
          </a:p>
        </p:txBody>
      </p:sp>
      <p:sp>
        <p:nvSpPr>
          <p:cNvPr id="6" name="release-copy">
            <a:extLst xmlns:a="http://schemas.openxmlformats.org/drawingml/2006/main">
              <a:ext uri="{FF2B5EF4-FFF2-40B4-BE49-F238E27FC236}">
                <a16:creationId xmlns:a16="http://schemas.microsoft.com/office/drawing/2014/main" id="{A98FAE42-BDF7-417D-B400-458C295A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4476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Every rule returns a structured pass.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Defined risk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Maximum loss within 2%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Usable quotes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Expiration and position caps</a:t>
            </a:r>
          </a:p>
        </p:txBody>
      </p:sp>
      <p:sp>
        <p:nvSpPr>
          <p:cNvPr id="7" name="held-title">
            <a:extLst xmlns:a="http://schemas.openxmlformats.org/drawingml/2006/main">
              <a:ext uri="{FF2B5EF4-FFF2-40B4-BE49-F238E27FC236}">
                <a16:creationId xmlns:a16="http://schemas.microsoft.com/office/drawing/2014/main" id="{0711BAC5-893E-4ED1-A4A3-9975BE03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240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HELD</a:t>
            </a:r>
          </a:p>
        </p:txBody>
      </p:sp>
      <p:sp>
        <p:nvSpPr>
          <p:cNvPr id="8" name="held-copy">
            <a:extLst xmlns:a="http://schemas.openxmlformats.org/drawingml/2006/main">
              <a:ext uri="{FF2B5EF4-FFF2-40B4-BE49-F238E27FC236}">
                <a16:creationId xmlns:a16="http://schemas.microsoft.com/office/drawing/2014/main" id="{623059C9-0FEA-4B3A-A124-9166F92C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4762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failed or unreadable fact is enough to stop.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Naked exposure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Missing quote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Daily loss boundary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Unknown structure or bad type</a:t>
            </a:r>
          </a:p>
        </p:txBody>
      </p:sp>
      <p:sp>
        <p:nvSpPr>
          <p:cNvPr id="9" name="held-foot">
            <a:extLst xmlns:a="http://schemas.openxmlformats.org/drawingml/2006/main">
              <a:ext uri="{FF2B5EF4-FFF2-40B4-BE49-F238E27FC236}">
                <a16:creationId xmlns:a16="http://schemas.microsoft.com/office/drawing/2014/main" id="{D7CA139A-13CE-4EFF-B112-5D11B345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stop is a normal ledger event—not an exception to hide.</a:t>
            </a:r>
          </a:p>
        </p:txBody>
      </p:sp>
    </p:spTree>
    <p:extLst>
      <p:ext uri="{BB962C8B-B14F-4D97-AF65-F5344CB8AC3E}">
        <p14:creationId xmlns:p14="http://schemas.microsoft.com/office/powerpoint/2010/main" val="15693256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4">
            <a:extLst xmlns:a="http://schemas.openxmlformats.org/drawingml/2006/main">
              <a:ext uri="{FF2B5EF4-FFF2-40B4-BE49-F238E27FC236}">
                <a16:creationId xmlns:a16="http://schemas.microsoft.com/office/drawing/2014/main" id="{763ADD7C-EA59-42E6-8C92-97733B7E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Alpaca is the hand—not a screenshot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E1AD9FD8-144A-45D6-8E28-EDE4758C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3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36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alpaca-label">
            <a:extLst xmlns:a="http://schemas.openxmlformats.org/drawingml/2006/main">
              <a:ext uri="{FF2B5EF4-FFF2-40B4-BE49-F238E27FC236}">
                <a16:creationId xmlns:a16="http://schemas.microsoft.com/office/drawing/2014/main" id="{CC75CF84-73BD-4FE2-9F72-76ADA282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ALPACA MCP</a:t>
            </a:r>
          </a:p>
        </p:txBody>
      </p:sp>
      <p:sp>
        <p:nvSpPr>
          <p:cNvPr id="4" name="alpaca-body">
            <a:extLst xmlns:a="http://schemas.openxmlformats.org/drawingml/2006/main">
              <a:ext uri="{FF2B5EF4-FFF2-40B4-BE49-F238E27FC236}">
                <a16:creationId xmlns:a16="http://schemas.microsoft.com/office/drawing/2014/main" id="{E7AE78B5-A5E1-4DCF-8456-D23652CE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19350"/>
            <a:ext cx="4095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63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D636D"/>
                </a:solidFill>
                <a:latin typeface="Arial"/>
                <a:ea typeface="Arial"/>
                <a:cs typeface="Arial"/>
              </a:rPr>
              <a:t>get_clock</a:t>
            </a:r>
          </a:p>
          <a:p xmlns:a="http://schemas.openxmlformats.org/drawingml/2006/main">
            <a:pPr algn="l">
              <a:defRPr sz="2025" b="0">
                <a:solidFill>
                  <a:srgbClr val="5D63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D636D"/>
                </a:solidFill>
                <a:latin typeface="Arial"/>
                <a:ea typeface="Arial"/>
                <a:cs typeface="Arial"/>
              </a:rPr>
              <a:t>get_account_info</a:t>
            </a:r>
          </a:p>
          <a:p xmlns:a="http://schemas.openxmlformats.org/drawingml/2006/main">
            <a:pPr algn="l">
              <a:defRPr sz="2025" b="0">
                <a:solidFill>
                  <a:srgbClr val="5D63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D636D"/>
                </a:solidFill>
                <a:latin typeface="Arial"/>
                <a:ea typeface="Arial"/>
                <a:cs typeface="Arial"/>
              </a:rPr>
              <a:t>get_all_positions</a:t>
            </a:r>
          </a:p>
          <a:p xmlns:a="http://schemas.openxmlformats.org/drawingml/2006/main">
            <a:pPr algn="l">
              <a:defRPr sz="2025" b="0">
                <a:solidFill>
                  <a:srgbClr val="5D63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D636D"/>
                </a:solidFill>
                <a:latin typeface="Arial"/>
                <a:ea typeface="Arial"/>
                <a:cs typeface="Arial"/>
              </a:rPr>
              <a:t>get_stock_latest_trade</a:t>
            </a:r>
          </a:p>
          <a:p xmlns:a="http://schemas.openxmlformats.org/drawingml/2006/main">
            <a:pPr algn="l">
              <a:defRPr sz="2025" b="0">
                <a:solidFill>
                  <a:srgbClr val="5D63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D636D"/>
                </a:solidFill>
                <a:latin typeface="Arial"/>
                <a:ea typeface="Arial"/>
                <a:cs typeface="Arial"/>
              </a:rPr>
              <a:t>get_option_chain</a:t>
            </a:r>
          </a:p>
          <a:p xmlns:a="http://schemas.openxmlformats.org/drawingml/2006/main">
            <a:pPr algn="l">
              <a:defRPr sz="2025" b="0">
                <a:solidFill>
                  <a:srgbClr val="5D63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D636D"/>
                </a:solidFill>
                <a:latin typeface="Arial"/>
                <a:ea typeface="Arial"/>
                <a:cs typeface="Arial"/>
              </a:rPr>
              <a:t>place_option_order</a:t>
            </a:r>
          </a:p>
        </p:txBody>
      </p:sp>
      <p:sp>
        <p:nvSpPr>
          <p:cNvPr id="5" name="split-rule">
            <a:extLst xmlns:a="http://schemas.openxmlformats.org/drawingml/2006/main">
              <a:ext uri="{FF2B5EF4-FFF2-40B4-BE49-F238E27FC236}">
                <a16:creationId xmlns:a16="http://schemas.microsoft.com/office/drawing/2014/main" id="{A5E1151E-D12A-4815-8118-9E5EA7FB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81150"/>
            <a:ext cx="285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policy-label">
            <a:extLst xmlns:a="http://schemas.openxmlformats.org/drawingml/2006/main">
              <a:ext uri="{FF2B5EF4-FFF2-40B4-BE49-F238E27FC236}">
                <a16:creationId xmlns:a16="http://schemas.microsoft.com/office/drawing/2014/main" id="{C6A60A7B-F0F2-4E0F-A1D6-DFA716D8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PROJECT POLICY</a:t>
            </a:r>
          </a:p>
        </p:txBody>
      </p:sp>
      <p:sp>
        <p:nvSpPr>
          <p:cNvPr id="7" name="policy-body">
            <a:extLst xmlns:a="http://schemas.openxmlformats.org/drawingml/2006/main">
              <a:ext uri="{FF2B5EF4-FFF2-40B4-BE49-F238E27FC236}">
                <a16:creationId xmlns:a16="http://schemas.microsoft.com/office/drawing/2014/main" id="{CFBD837A-16B4-4D67-A7B0-0301B0A1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19350"/>
            <a:ext cx="4762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63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D636D"/>
                </a:solidFill>
                <a:latin typeface="Arial"/>
                <a:ea typeface="Arial"/>
                <a:cs typeface="Arial"/>
              </a:rPr>
              <a:t>Pure selector</a:t>
            </a:r>
          </a:p>
          <a:p xmlns:a="http://schemas.openxmlformats.org/drawingml/2006/main">
            <a:pPr algn="l">
              <a:defRPr sz="2025" b="0">
                <a:solidFill>
                  <a:srgbClr val="5D63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D636D"/>
                </a:solidFill>
                <a:latin typeface="Arial"/>
                <a:ea typeface="Arial"/>
                <a:cs typeface="Arial"/>
              </a:rPr>
              <a:t>Plain-language judgment</a:t>
            </a:r>
          </a:p>
          <a:p xmlns:a="http://schemas.openxmlformats.org/drawingml/2006/main">
            <a:pPr algn="l">
              <a:defRPr sz="2025" b="0">
                <a:solidFill>
                  <a:srgbClr val="5D63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D636D"/>
                </a:solidFill>
                <a:latin typeface="Arial"/>
                <a:ea typeface="Arial"/>
                <a:cs typeface="Arial"/>
              </a:rPr>
              <a:t>Seven fail-closed rules</a:t>
            </a:r>
          </a:p>
          <a:p xmlns:a="http://schemas.openxmlformats.org/drawingml/2006/main">
            <a:pPr algn="l">
              <a:defRPr sz="2025" b="0">
                <a:solidFill>
                  <a:srgbClr val="5D63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D636D"/>
                </a:solidFill>
                <a:latin typeface="Arial"/>
                <a:ea typeface="Arial"/>
                <a:cs typeface="Arial"/>
              </a:rPr>
              <a:t>Append-only local ledger</a:t>
            </a:r>
          </a:p>
          <a:p xmlns:a="http://schemas.openxmlformats.org/drawingml/2006/main">
            <a:pPr algn="l">
              <a:defRPr sz="2025" b="0">
                <a:solidFill>
                  <a:srgbClr val="5D63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D636D"/>
                </a:solidFill>
                <a:latin typeface="Arial"/>
                <a:ea typeface="Arial"/>
                <a:cs typeface="Arial"/>
              </a:rPr>
              <a:t>Redacted request / receipt pair</a:t>
            </a:r>
          </a:p>
          <a:p xmlns:a="http://schemas.openxmlformats.org/drawingml/2006/main">
            <a:pPr algn="l">
              <a:defRPr sz="2025" b="0">
                <a:solidFill>
                  <a:srgbClr val="5D63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D636D"/>
                </a:solidFill>
                <a:latin typeface="Arial"/>
                <a:ea typeface="Arial"/>
                <a:cs typeface="Arial"/>
              </a:rPr>
              <a:t>No direct HTTP order bypass</a:t>
            </a:r>
          </a:p>
        </p:txBody>
      </p:sp>
      <p:sp>
        <p:nvSpPr>
          <p:cNvPr id="8" name="mcp-callout">
            <a:extLst xmlns:a="http://schemas.openxmlformats.org/drawingml/2006/main">
              <a:ext uri="{FF2B5EF4-FFF2-40B4-BE49-F238E27FC236}">
                <a16:creationId xmlns:a16="http://schemas.microsoft.com/office/drawing/2014/main" id="{F3551351-00F9-45E8-80A7-5A8B9985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0820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mcp-callout-text">
            <a:extLst xmlns:a="http://schemas.openxmlformats.org/drawingml/2006/main">
              <a:ext uri="{FF2B5EF4-FFF2-40B4-BE49-F238E27FC236}">
                <a16:creationId xmlns:a16="http://schemas.microsoft.com/office/drawing/2014/main" id="{5E59AE99-76CD-4E76-A1A0-51C054BC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72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Every order reaches Alpaca through the MCP tool named in the ledger and recording trace.</a:t>
            </a:r>
          </a:p>
        </p:txBody>
      </p:sp>
    </p:spTree>
    <p:extLst>
      <p:ext uri="{BB962C8B-B14F-4D97-AF65-F5344CB8AC3E}">
        <p14:creationId xmlns:p14="http://schemas.microsoft.com/office/powerpoint/2010/main" val="2226527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136A9391-9E51-497E-9A19-01490C2C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D636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D636D"/>
                </a:solidFill>
                <a:latin typeface="Arial"/>
                <a:ea typeface="Arial"/>
                <a:cs typeface="Arial"/>
              </a:rPr>
              <a:t>THREE INDEPENDENT CHECKS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CE8B1E9A-3DFD-4BD7-A996-4C559C20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9525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Verify the account.</a:t>
            </a:r>
          </a:p>
          <a:p xmlns:a="http://schemas.openxmlformats.org/drawingml/2006/main">
            <a:pPr algn="l">
              <a:defRPr sz="5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Inspect the code.</a:t>
            </a:r>
          </a:p>
          <a:p xmlns:a="http://schemas.openxmlformats.org/drawingml/2006/main">
            <a:pPr algn="l">
              <a:defRPr sz="5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Trace the cause.</a:t>
            </a:r>
          </a:p>
        </p:txBody>
      </p:sp>
      <p:sp>
        <p:nvSpPr>
          <p:cNvPr id="3" name="close-lines">
            <a:extLst xmlns:a="http://schemas.openxmlformats.org/drawingml/2006/main">
              <a:ext uri="{FF2B5EF4-FFF2-40B4-BE49-F238E27FC236}">
                <a16:creationId xmlns:a16="http://schemas.microsoft.com/office/drawing/2014/main" id="{ED07CFC0-0CFE-43A3-8CB7-A9FA6228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809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Dedicated paper account ID (private form)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Public repository + read-only demo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Judgment → gate receipts → Alpaca receipt</a:t>
            </a:r>
          </a:p>
        </p:txBody>
      </p:sp>
      <p:sp>
        <p:nvSpPr>
          <p:cNvPr id="4" name="close-boundary">
            <a:extLst xmlns:a="http://schemas.openxmlformats.org/drawingml/2006/main">
              <a:ext uri="{FF2B5EF4-FFF2-40B4-BE49-F238E27FC236}">
                <a16:creationId xmlns:a16="http://schemas.microsoft.com/office/drawing/2014/main" id="{091A863F-7633-479A-92E3-3ADBFFBC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9531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877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D63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36D"/>
                </a:solidFill>
                <a:latin typeface="Arial"/>
                <a:ea typeface="Arial"/>
                <a:cs typeface="Arial"/>
              </a:rPr>
              <a:t>PAPER TRADING ONLY · NO REAL CAPITAL · NOT INVESTMENT ADVICE</a:t>
            </a:r>
          </a:p>
        </p:txBody>
      </p:sp>
    </p:spTree>
    <p:extLst>
      <p:ext uri="{BB962C8B-B14F-4D97-AF65-F5344CB8AC3E}">
        <p14:creationId xmlns:p14="http://schemas.microsoft.com/office/powerpoint/2010/main" val="16782408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2026-08-31T11:30:10.5920000Z</dcterms:created>
  <dcterms:modified xsi:type="dcterms:W3CDTF">2026-08-31T11:30:10.5920000Z</dcterms:modified>
</coreProperties>
</file>